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(Ahmed):</a:t>
            </a:r>
          </a:p>
          <a:p>
            <a:r>
              <a:t>Good morning members of the jury. I am Ahmed Amine Ghenimi, and with Abdallah Dridi, we present Enterprise KMS Vault.</a:t>
            </a:r>
          </a:p>
          <a:p>
            <a:r>
              <a:t>Our project addresses a core enterprise vulnerability: sensitive operational credentials stored carelessly in plaintext.</a:t>
            </a:r>
          </a:p>
          <a:p>
            <a:r>
              <a:t>We built a production-grade Key Management and Zero-Knowledge Vault enforcing 3-tier envelope encryption, Argon2id authentication, and tamper-evident audit chaining.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(Abdallah):</a:t>
            </a:r>
          </a:p>
          <a:p>
            <a:r>
              <a:t>Point to the left: Most breaches occur because credentials sit in plaintext tables. If a backup is leaked, everything is compromised.</a:t>
            </a:r>
          </a:p>
          <a:p>
            <a:r>
              <a:t>Point to the right: Our system enforces Zero Plaintext at Rest. Even with full access to keyvault.db, an adversary gets only high-entropy ciphertext.</a:t>
            </a:r>
          </a:p>
          <a:p>
            <a:r>
              <a:t>Plaintext is only recovered on-demand via role-checked API calls with authentic user identity, completely denying administrators secret access.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(Ahmed):</a:t>
            </a:r>
          </a:p>
          <a:p>
            <a:r>
              <a:t>Here are our three architectural trust boundaries:</a:t>
            </a:r>
          </a:p>
          <a:p>
            <a:r>
              <a:t>1. The Client never holds master keys.</a:t>
            </a:r>
          </a:p>
          <a:p>
            <a:r>
              <a:t>2. The FastAPI backend validates ownership before invoking decryption, stopping IDOR vulnerabilities at the root.</a:t>
            </a:r>
          </a:p>
          <a:p>
            <a:r>
              <a:t>3. The KMS Core manages keys hierarchically. On logout, sessions are instantly revoked server-side.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(Abdallah):</a:t>
            </a:r>
          </a:p>
          <a:p>
            <a:r>
              <a:t>Explain the key architectural question the jury will ask:</a:t>
            </a:r>
          </a:p>
          <a:p>
            <a:r>
              <a:t>'Why envelope encryption instead of direct master key encryption?'</a:t>
            </a:r>
          </a:p>
          <a:p>
            <a:r>
              <a:t>Answer: If you encrypt 10,000 secrets directly with a master key and rotate it, you must decrypt and re-encrypt all 10,000 secrets, risking data corruption and downtime.</a:t>
            </a:r>
          </a:p>
          <a:p>
            <a:r>
              <a:t>With Envelope Encryption, each secret has its own DEK. Rotating the master key only re-wraps the small DEKs in milliseconds with zero downtime.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(Ahmed):</a:t>
            </a:r>
          </a:p>
          <a:p>
            <a:r>
              <a:t>This slide directly addresses the delivery standard: 'No evidence = no credit.'</a:t>
            </a:r>
          </a:p>
          <a:p>
            <a:r>
              <a:t>We have verified all defensive mechanisms with 77 automated tests in pytest:</a:t>
            </a:r>
          </a:p>
          <a:p>
            <a:r>
              <a:t>1. Anti-IDOR and Zero-Knowledge Admin enforcement are verified.</a:t>
            </a:r>
          </a:p>
          <a:p>
            <a:r>
              <a:t>2. 1-bit tampering causes cryptographic abort.</a:t>
            </a:r>
          </a:p>
          <a:p>
            <a:r>
              <a:t>3. Audit tampering breaks the hash chain.</a:t>
            </a:r>
          </a:p>
          <a:p>
            <a:r>
              <a:t>4. Account lockout stops brute-force guessing.</a:t>
            </a:r>
          </a:p>
          <a:p>
            <a:r>
              <a:t>5. Key rotation re-wraps DEKs seamlessly without downtime.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 (Ahmed &amp; Abdallah Closing):</a:t>
            </a:r>
          </a:p>
          <a:p>
            <a:r>
              <a:t>This is our transition to the live defense demonstration.</a:t>
            </a:r>
          </a:p>
          <a:p>
            <a:r>
              <a:t>We will execute our 4-step live walkthrough directly in our terminal and browser.</a:t>
            </a:r>
          </a:p>
          <a:p>
            <a:r>
              <a:t>Ahmed demonstrates Steps 1 &amp; 2; Abdallah demonstrates Steps 3 &amp; 4.</a:t>
            </a:r>
          </a:p>
          <a:p>
            <a:r>
              <a:t>Thank you for your attention. We are now ready to begin the live demonstration and take your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0" y="-685800"/>
            <a:ext cx="8229600" cy="8229600"/>
          </a:xfrm>
          <a:prstGeom prst="ellipse">
            <a:avLst/>
          </a:prstGeom>
          <a:solidFill>
            <a:srgbClr val="1E1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0" y="228600"/>
            <a:ext cx="6400800" cy="6400800"/>
          </a:xfrm>
          <a:prstGeom prst="ellipse">
            <a:avLst/>
          </a:prstGeom>
          <a:solidFill>
            <a:srgbClr val="2E1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15200" y="1143000"/>
            <a:ext cx="4572000" cy="4572000"/>
          </a:xfrm>
          <a:prstGeom prst="ellipse">
            <a:avLst/>
          </a:prstGeom>
          <a:solidFill>
            <a:srgbClr val="432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138160" y="1965960"/>
            <a:ext cx="2926080" cy="2926080"/>
          </a:xfrm>
          <a:prstGeom prst="ellipse">
            <a:avLst/>
          </a:prstGeom>
          <a:solidFill>
            <a:srgbClr val="5E36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rporate_vault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1965960"/>
            <a:ext cx="2926080" cy="2926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86868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C4B5FD"/>
                </a:solidFill>
              </a:defRPr>
            </a:pPr>
            <a:r>
              <a:t>🛡️  APPLICATION REPORT &amp; ORAL DEFENSE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325880"/>
            <a:ext cx="68580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Enterprise KMS Vault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23160"/>
            <a:ext cx="6583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A78BFA"/>
                </a:solidFill>
              </a:defRPr>
            </a:pPr>
            <a:r>
              <a:t>Secure Authentication &amp; Cryptographic Storage System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3-Tier Envelope Hierarchy  •  Zero-Knowledge Admin  •  Tamper-Evident SHA-256 Audit Chain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86200"/>
            <a:ext cx="5852160" cy="1371600"/>
          </a:xfrm>
          <a:prstGeom prst="roundRect">
            <a:avLst/>
          </a:prstGeom>
          <a:solidFill>
            <a:srgbClr val="17142A"/>
          </a:solidFill>
          <a:ln>
            <a:solidFill>
              <a:srgbClr val="2D27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069080"/>
            <a:ext cx="5394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Ahmed Amine Ghenimi  &amp;  Abdallah Dridi</a:t>
            </a:r>
          </a:p>
          <a:p>
            <a:pPr>
              <a:defRPr sz="1000">
                <a:solidFill>
                  <a:srgbClr val="A78BFA"/>
                </a:solidFill>
              </a:defRPr>
            </a:pPr>
            <a:r>
              <a:t>ING 5 SSIRE A  •  Class of 2026  •  TEK-UP Engineering School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Course: Art of Protecting Secrets  •  Track 02 (Project 2: Protect)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7150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CBD5E1"/>
                </a:solidFill>
              </a:defRPr>
            </a:pPr>
            <a:r>
              <a:t>TECH STACK:  Python 3.12+  |  FastAPI  |  SQLite 3  |  Argon2id (m=64M,t=2)  |  AES-256-GCM  |  SHA-256 Chain  |  Pytest (77/77 Passed)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7954C7"/>
                </a:solidFill>
              </a:defRPr>
            </a:pPr>
            <a:r>
              <a:t>ENTERPRISE KMS VAULT  •  01 PRODUCT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41B36"/>
                </a:solidFill>
              </a:defRPr>
            </a:pPr>
            <a:r>
              <a:t>The Real-World Threat &amp; The KMS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6F647C"/>
                </a:solidFill>
              </a:defRPr>
            </a:pPr>
            <a:r>
              <a:t>Why storing credentials in databases fails and how Enterprise KMS Vault guarantees zero plaintext at rest.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166360" cy="4206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84248"/>
            <a:ext cx="4764024" cy="38039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7954C7"/>
                </a:solidFill>
              </a:defRPr>
            </a:pPr>
            <a:r>
              <a:t>⚠️ The Real-World Threat Landscape</a:t>
            </a:r>
          </a:p>
          <a:p>
            <a:pPr>
              <a:spcAft>
                <a:spcPts val="700"/>
              </a:spcAft>
            </a:pPr>
            <a:r>
              <a:rPr b="1">
                <a:solidFill>
                  <a:srgbClr val="7954C7"/>
                </a:solidFill>
              </a:rPr>
              <a:t>• </a:t>
            </a:r>
            <a:r>
              <a:rPr b="1" sz="1050">
                <a:solidFill>
                  <a:srgbClr val="241B36"/>
                </a:solidFill>
              </a:rPr>
              <a:t>Plaintext Exposure: </a:t>
            </a:r>
            <a:r>
              <a:rPr b="0" sz="1000">
                <a:solidFill>
                  <a:srgbClr val="241B36"/>
                </a:solidFill>
              </a:rPr>
              <a:t>Enterprises store API tokens, database credentials, and certificates in plaintext files and DB tables.</a:t>
            </a:r>
          </a:p>
          <a:p>
            <a:pPr>
              <a:spcAft>
                <a:spcPts val="700"/>
              </a:spcAft>
            </a:pPr>
            <a:r>
              <a:rPr b="1">
                <a:solidFill>
                  <a:srgbClr val="7954C7"/>
                </a:solidFill>
              </a:rPr>
              <a:t>• </a:t>
            </a:r>
            <a:r>
              <a:rPr b="1" sz="1050">
                <a:solidFill>
                  <a:srgbClr val="241B36"/>
                </a:solidFill>
              </a:rPr>
              <a:t>Backup &amp; Dump Theft: </a:t>
            </a:r>
            <a:r>
              <a:rPr b="0" sz="1000">
                <a:solidFill>
                  <a:srgbClr val="241B36"/>
                </a:solidFill>
              </a:rPr>
              <a:t>Attackers gaining read-only access to database backups or replicas immediately compromise all credentials.</a:t>
            </a:r>
          </a:p>
          <a:p>
            <a:pPr>
              <a:spcAft>
                <a:spcPts val="700"/>
              </a:spcAft>
            </a:pPr>
            <a:r>
              <a:rPr b="1">
                <a:solidFill>
                  <a:srgbClr val="7954C7"/>
                </a:solidFill>
              </a:rPr>
              <a:t>• </a:t>
            </a:r>
            <a:r>
              <a:rPr b="1" sz="1050">
                <a:solidFill>
                  <a:srgbClr val="241B36"/>
                </a:solidFill>
              </a:rPr>
              <a:t>No Tamper Detection: </a:t>
            </a:r>
            <a:r>
              <a:rPr b="0" sz="1000">
                <a:solidFill>
                  <a:srgbClr val="241B36"/>
                </a:solidFill>
              </a:rPr>
              <a:t>Traditional database rows can be silently modified or bit-flipped without the application noticing.</a:t>
            </a:r>
          </a:p>
          <a:p>
            <a:pPr>
              <a:spcAft>
                <a:spcPts val="700"/>
              </a:spcAft>
            </a:pPr>
            <a:r>
              <a:rPr b="1">
                <a:solidFill>
                  <a:srgbClr val="7954C7"/>
                </a:solidFill>
              </a:rPr>
              <a:t>• </a:t>
            </a:r>
            <a:r>
              <a:rPr b="1" sz="1050">
                <a:solidFill>
                  <a:srgbClr val="241B36"/>
                </a:solidFill>
              </a:rPr>
              <a:t>Rogue Administrator Risk: </a:t>
            </a:r>
            <a:r>
              <a:rPr b="0" sz="1000">
                <a:solidFill>
                  <a:srgbClr val="241B36"/>
                </a:solidFill>
              </a:rPr>
              <a:t>A rogue administrator or compromised admin account can snoop on and exfiltrate user credentials.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783080"/>
            <a:ext cx="5166360" cy="4206240"/>
          </a:xfrm>
          <a:prstGeom prst="roundRect">
            <a:avLst/>
          </a:prstGeom>
          <a:solidFill>
            <a:srgbClr val="F1EBFA"/>
          </a:solidFill>
          <a:ln w="1524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4808" y="1984248"/>
            <a:ext cx="4764024" cy="38039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7954C7"/>
                </a:solidFill>
              </a:defRPr>
            </a:pPr>
            <a:r>
              <a:t>🛡️ Enterprise KMS Vault Defensive Controls</a:t>
            </a:r>
          </a:p>
          <a:p>
            <a:pPr>
              <a:spcAft>
                <a:spcPts val="700"/>
              </a:spcAft>
            </a:pPr>
            <a:r>
              <a:rPr b="1">
                <a:solidFill>
                  <a:srgbClr val="7954C7"/>
                </a:solidFill>
              </a:rPr>
              <a:t>• </a:t>
            </a:r>
            <a:r>
              <a:rPr b="1" sz="1050">
                <a:solidFill>
                  <a:srgbClr val="241B36"/>
                </a:solidFill>
              </a:rPr>
              <a:t>Zero Plaintext at Rest: </a:t>
            </a:r>
            <a:r>
              <a:rPr b="0" sz="1000">
                <a:solidFill>
                  <a:srgbClr val="241B36"/>
                </a:solidFill>
              </a:rPr>
              <a:t>Inspecting the SQLite database reveals only high-entropy base64 ciphertext, nonces, and MAC tags.</a:t>
            </a:r>
          </a:p>
          <a:p>
            <a:pPr>
              <a:spcAft>
                <a:spcPts val="700"/>
              </a:spcAft>
            </a:pPr>
            <a:r>
              <a:rPr b="1">
                <a:solidFill>
                  <a:srgbClr val="7954C7"/>
                </a:solidFill>
              </a:rPr>
              <a:t>• </a:t>
            </a:r>
            <a:r>
              <a:rPr b="1" sz="1050">
                <a:solidFill>
                  <a:srgbClr val="241B36"/>
                </a:solidFill>
              </a:rPr>
              <a:t>3-Tier Envelope Isolation: </a:t>
            </a:r>
            <a:r>
              <a:rPr b="0" sz="1000">
                <a:solidFill>
                  <a:srgbClr val="241B36"/>
                </a:solidFill>
              </a:rPr>
              <a:t>Server Root KEK wraps Master KEKs; Master KEKs wrap transient per-secret Data Encryption Keys (DEKs).</a:t>
            </a:r>
          </a:p>
          <a:p>
            <a:pPr>
              <a:spcAft>
                <a:spcPts val="700"/>
              </a:spcAft>
            </a:pPr>
            <a:r>
              <a:rPr b="1">
                <a:solidFill>
                  <a:srgbClr val="7954C7"/>
                </a:solidFill>
              </a:rPr>
              <a:t>• </a:t>
            </a:r>
            <a:r>
              <a:rPr b="1" sz="1050">
                <a:solidFill>
                  <a:srgbClr val="241B36"/>
                </a:solidFill>
              </a:rPr>
              <a:t>Zero-Knowledge Admin Principle: </a:t>
            </a:r>
            <a:r>
              <a:rPr b="0" sz="1000">
                <a:solidFill>
                  <a:srgbClr val="241B36"/>
                </a:solidFill>
              </a:rPr>
              <a:t>Administrators manage keys and users, but are strictly forbidden (HTTP 403) from decrypting user secrets.</a:t>
            </a:r>
          </a:p>
          <a:p>
            <a:pPr>
              <a:spcAft>
                <a:spcPts val="700"/>
              </a:spcAft>
            </a:pPr>
            <a:r>
              <a:rPr b="1">
                <a:solidFill>
                  <a:srgbClr val="7954C7"/>
                </a:solidFill>
              </a:rPr>
              <a:t>• </a:t>
            </a:r>
            <a:r>
              <a:rPr b="1" sz="1050">
                <a:solidFill>
                  <a:srgbClr val="241B36"/>
                </a:solidFill>
              </a:rPr>
              <a:t>Tamper-Evident SHA-256 Chain: </a:t>
            </a:r>
            <a:r>
              <a:rPr b="0" sz="1000">
                <a:solidFill>
                  <a:srgbClr val="241B36"/>
                </a:solidFill>
              </a:rPr>
              <a:t>Blockchain-style recursive hash chain detects any retroactive audit log alteration instantly.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2179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F647C"/>
                </a:solidFill>
              </a:defRPr>
            </a:pPr>
            <a:r>
              <a:t>Authentication and cryptography  |  Application oral defense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21792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7954C7"/>
                </a:solidFill>
              </a:defRPr>
            </a:pPr>
            <a:r>
              <a:t>•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7954C7"/>
                </a:solidFill>
              </a:defRPr>
            </a:pPr>
            <a:r>
              <a:t>ENTERPRISE KMS VAULT  •  02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41B36"/>
                </a:solidFill>
              </a:defRPr>
            </a:pPr>
            <a:r>
              <a:t>Architecture &amp; Trust Boundaries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6F647C"/>
                </a:solidFill>
              </a:defRPr>
            </a:pPr>
            <a:r>
              <a:t>Three strictly separated tiers isolate authentication, route authorization, and cryptographic keys.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337560" cy="4206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84248"/>
            <a:ext cx="2935224" cy="38039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7954C7"/>
                </a:solidFill>
              </a:defRPr>
            </a:pPr>
            <a:r>
              <a:t>🌐 Client Workspace</a:t>
            </a:r>
          </a:p>
          <a:p>
            <a:pPr>
              <a:spcAft>
                <a:spcPts val="700"/>
              </a:spcAft>
            </a:pPr>
            <a:r>
              <a:rPr b="1">
                <a:solidFill>
                  <a:srgbClr val="7954C7"/>
                </a:solidFill>
              </a:rPr>
              <a:t>• </a:t>
            </a:r>
            <a:r>
              <a:rPr b="1" sz="1050">
                <a:solidFill>
                  <a:srgbClr val="241B36"/>
                </a:solidFill>
              </a:rPr>
              <a:t>Presentation Layer: </a:t>
            </a:r>
            <a:r>
              <a:rPr b="0" sz="1000">
                <a:solidFill>
                  <a:srgbClr val="241B36"/>
                </a:solidFill>
              </a:rPr>
              <a:t>Browser Web UI and authenticated REST API clients.</a:t>
            </a:r>
          </a:p>
          <a:p>
            <a:pPr>
              <a:spcAft>
                <a:spcPts val="700"/>
              </a:spcAft>
            </a:pPr>
            <a:r>
              <a:rPr b="1">
                <a:solidFill>
                  <a:srgbClr val="7954C7"/>
                </a:solidFill>
              </a:rPr>
              <a:t>• </a:t>
            </a:r>
            <a:r>
              <a:rPr b="1" sz="1050">
                <a:solidFill>
                  <a:srgbClr val="241B36"/>
                </a:solidFill>
              </a:rPr>
              <a:t>Session Transport: </a:t>
            </a:r>
            <a:r>
              <a:rPr b="0" sz="1000">
                <a:solidFill>
                  <a:srgbClr val="241B36"/>
                </a:solidFill>
              </a:rPr>
              <a:t>Signed HMAC-SHA256 session tokens in HttpOnly Strict cookies &amp; Bearer headers.</a:t>
            </a:r>
          </a:p>
          <a:p>
            <a:pPr>
              <a:spcAft>
                <a:spcPts val="700"/>
              </a:spcAft>
            </a:pPr>
            <a:r>
              <a:rPr b="1">
                <a:solidFill>
                  <a:srgbClr val="7954C7"/>
                </a:solidFill>
              </a:rPr>
              <a:t>• </a:t>
            </a:r>
            <a:r>
              <a:rPr b="1" sz="1050">
                <a:solidFill>
                  <a:srgbClr val="241B36"/>
                </a:solidFill>
              </a:rPr>
              <a:t>Zero Key Knowledge: </a:t>
            </a:r>
            <a:r>
              <a:rPr b="0" sz="1000">
                <a:solidFill>
                  <a:srgbClr val="241B36"/>
                </a:solidFill>
              </a:rPr>
              <a:t>The client holds zero master keys or cryptographic credentials.</a:t>
            </a:r>
          </a:p>
          <a:p>
            <a:pPr>
              <a:spcAft>
                <a:spcPts val="700"/>
              </a:spcAft>
            </a:pPr>
            <a:r>
              <a:rPr b="1">
                <a:solidFill>
                  <a:srgbClr val="7954C7"/>
                </a:solidFill>
              </a:rPr>
              <a:t>• </a:t>
            </a:r>
            <a:r>
              <a:rPr b="1" sz="1050">
                <a:solidFill>
                  <a:srgbClr val="241B36"/>
                </a:solidFill>
              </a:rPr>
              <a:t>No Plaintext Caching: </a:t>
            </a:r>
            <a:r>
              <a:rPr b="0" sz="1000">
                <a:solidFill>
                  <a:srgbClr val="241B36"/>
                </a:solidFill>
              </a:rPr>
              <a:t>Decrypted credentials exist only transiently in view state.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83080"/>
            <a:ext cx="3337560" cy="4206240"/>
          </a:xfrm>
          <a:prstGeom prst="roundRect">
            <a:avLst/>
          </a:prstGeom>
          <a:solidFill>
            <a:srgbClr val="F1EBFA"/>
          </a:solidFill>
          <a:ln w="1524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0288" y="1984248"/>
            <a:ext cx="2935224" cy="38039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7954C7"/>
                </a:solidFill>
              </a:defRPr>
            </a:pPr>
            <a:r>
              <a:t>⚡ FastAPI Control Plane</a:t>
            </a:r>
          </a:p>
          <a:p>
            <a:pPr>
              <a:spcAft>
                <a:spcPts val="700"/>
              </a:spcAft>
            </a:pPr>
            <a:r>
              <a:rPr b="1">
                <a:solidFill>
                  <a:srgbClr val="7954C7"/>
                </a:solidFill>
              </a:rPr>
              <a:t>• </a:t>
            </a:r>
            <a:r>
              <a:rPr b="1" sz="1050">
                <a:solidFill>
                  <a:srgbClr val="241B36"/>
                </a:solidFill>
              </a:rPr>
              <a:t>3-Tier RBAC Guard: </a:t>
            </a:r>
            <a:r>
              <a:rPr b="0" sz="1000">
                <a:solidFill>
                  <a:srgbClr val="241B36"/>
                </a:solidFill>
              </a:rPr>
              <a:t>Strict separation of concerns: ADMIN, USER, and AUDITOR roles.</a:t>
            </a:r>
          </a:p>
          <a:p>
            <a:pPr>
              <a:spcAft>
                <a:spcPts val="700"/>
              </a:spcAft>
            </a:pPr>
            <a:r>
              <a:rPr b="1">
                <a:solidFill>
                  <a:srgbClr val="7954C7"/>
                </a:solidFill>
              </a:rPr>
              <a:t>• </a:t>
            </a:r>
            <a:r>
              <a:rPr b="1" sz="1050">
                <a:solidFill>
                  <a:srgbClr val="241B36"/>
                </a:solidFill>
              </a:rPr>
              <a:t>Anti-IDOR Predicate: </a:t>
            </a:r>
            <a:r>
              <a:rPr b="0" sz="1000">
                <a:solidFill>
                  <a:srgbClr val="241B36"/>
                </a:solidFill>
              </a:rPr>
              <a:t>Validates secret ownership on server before any crypto operation.</a:t>
            </a:r>
          </a:p>
          <a:p>
            <a:pPr>
              <a:spcAft>
                <a:spcPts val="700"/>
              </a:spcAft>
            </a:pPr>
            <a:r>
              <a:rPr b="1">
                <a:solidFill>
                  <a:srgbClr val="7954C7"/>
                </a:solidFill>
              </a:rPr>
              <a:t>• </a:t>
            </a:r>
            <a:r>
              <a:rPr b="1" sz="1050">
                <a:solidFill>
                  <a:srgbClr val="241B36"/>
                </a:solidFill>
              </a:rPr>
              <a:t>Abuse Defense: </a:t>
            </a:r>
            <a:r>
              <a:rPr b="0" sz="1000">
                <a:solidFill>
                  <a:srgbClr val="241B36"/>
                </a:solidFill>
              </a:rPr>
              <a:t>5 failed login attempts trigger 15-minute account lockout returning HTTP 403.</a:t>
            </a:r>
          </a:p>
          <a:p>
            <a:pPr>
              <a:spcAft>
                <a:spcPts val="700"/>
              </a:spcAft>
            </a:pPr>
            <a:r>
              <a:rPr b="1">
                <a:solidFill>
                  <a:srgbClr val="7954C7"/>
                </a:solidFill>
              </a:rPr>
              <a:t>• </a:t>
            </a:r>
            <a:r>
              <a:rPr b="1" sz="1050">
                <a:solidFill>
                  <a:srgbClr val="241B36"/>
                </a:solidFill>
              </a:rPr>
              <a:t>Instant Logout Revocation: </a:t>
            </a:r>
            <a:r>
              <a:rPr b="0" sz="1000">
                <a:solidFill>
                  <a:srgbClr val="241B36"/>
                </a:solidFill>
              </a:rPr>
              <a:t>Server-side token registry invalidates session tokens immediately upon logout.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783080"/>
            <a:ext cx="3337560" cy="4206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47888" y="1984248"/>
            <a:ext cx="2935224" cy="38039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7954C7"/>
                </a:solidFill>
              </a:defRPr>
            </a:pPr>
            <a:r>
              <a:t>🔒 Storage &amp; KMS Core</a:t>
            </a:r>
          </a:p>
          <a:p>
            <a:pPr>
              <a:spcAft>
                <a:spcPts val="700"/>
              </a:spcAft>
            </a:pPr>
            <a:r>
              <a:rPr b="1">
                <a:solidFill>
                  <a:srgbClr val="7954C7"/>
                </a:solidFill>
              </a:rPr>
              <a:t>• </a:t>
            </a:r>
            <a:r>
              <a:rPr b="1" sz="1050">
                <a:solidFill>
                  <a:srgbClr val="241B36"/>
                </a:solidFill>
              </a:rPr>
              <a:t>Root KEK Authority: </a:t>
            </a:r>
            <a:r>
              <a:rPr b="0" sz="1000">
                <a:solidFill>
                  <a:srgbClr val="241B36"/>
                </a:solidFill>
              </a:rPr>
              <a:t>Server Root Key (KEY_VAULT_ROOT_KEY) wraps Master KEKs.</a:t>
            </a:r>
          </a:p>
          <a:p>
            <a:pPr>
              <a:spcAft>
                <a:spcPts val="700"/>
              </a:spcAft>
            </a:pPr>
            <a:r>
              <a:rPr b="1">
                <a:solidFill>
                  <a:srgbClr val="7954C7"/>
                </a:solidFill>
              </a:rPr>
              <a:t>• </a:t>
            </a:r>
            <a:r>
              <a:rPr b="1" sz="1050">
                <a:solidFill>
                  <a:srgbClr val="241B36"/>
                </a:solidFill>
              </a:rPr>
              <a:t>Envelope Engine: </a:t>
            </a:r>
            <a:r>
              <a:rPr b="0" sz="1000">
                <a:solidFill>
                  <a:srgbClr val="241B36"/>
                </a:solidFill>
              </a:rPr>
              <a:t>2-Tier AES-256-GCM envelope cryptographic subsystem.</a:t>
            </a:r>
          </a:p>
          <a:p>
            <a:pPr>
              <a:spcAft>
                <a:spcPts val="700"/>
              </a:spcAft>
            </a:pPr>
            <a:r>
              <a:rPr b="1">
                <a:solidFill>
                  <a:srgbClr val="7954C7"/>
                </a:solidFill>
              </a:rPr>
              <a:t>• </a:t>
            </a:r>
            <a:r>
              <a:rPr b="1" sz="1050">
                <a:solidFill>
                  <a:srgbClr val="241B36"/>
                </a:solidFill>
              </a:rPr>
              <a:t>Zero-Plaintext DB: </a:t>
            </a:r>
            <a:r>
              <a:rPr b="0" sz="1000">
                <a:solidFill>
                  <a:srgbClr val="241B36"/>
                </a:solidFill>
              </a:rPr>
              <a:t>SQLite `keyvault.db` stores only base64 ciphertexts and tags.</a:t>
            </a:r>
          </a:p>
          <a:p>
            <a:pPr>
              <a:spcAft>
                <a:spcPts val="700"/>
              </a:spcAft>
            </a:pPr>
            <a:r>
              <a:rPr b="1">
                <a:solidFill>
                  <a:srgbClr val="7954C7"/>
                </a:solidFill>
              </a:rPr>
              <a:t>• </a:t>
            </a:r>
            <a:r>
              <a:rPr b="1" sz="1050">
                <a:solidFill>
                  <a:srgbClr val="241B36"/>
                </a:solidFill>
              </a:rPr>
              <a:t>SHA-256 Audit Chain: </a:t>
            </a:r>
            <a:r>
              <a:rPr b="0" sz="1000">
                <a:solidFill>
                  <a:srgbClr val="241B36"/>
                </a:solidFill>
              </a:rPr>
              <a:t>Recursive blockchain-style hash chain anchoring history.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2179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F647C"/>
                </a:solidFill>
              </a:defRPr>
            </a:pPr>
            <a:r>
              <a:t>Authentication and cryptography  |  Application oral defense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21792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7954C7"/>
                </a:solidFill>
              </a:defRPr>
            </a:pPr>
            <a:r>
              <a:t>•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7954C7"/>
                </a:solidFill>
              </a:defRPr>
            </a:pPr>
            <a:r>
              <a:t>ENTERPRISE KMS VAULT  •  03 CRYPTOGRAPHIC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41B36"/>
                </a:solidFill>
              </a:defRPr>
            </a:pPr>
            <a:r>
              <a:t>How It Works: 3-Tier Envelope Encryption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6F647C"/>
                </a:solidFill>
              </a:defRPr>
            </a:pPr>
            <a:r>
              <a:t>Server Root KEK wraps Master KEKs; unique random DEKs encrypt individual secrets.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166360" cy="4206240"/>
          </a:xfrm>
          <a:prstGeom prst="roundRect">
            <a:avLst/>
          </a:prstGeom>
          <a:solidFill>
            <a:srgbClr val="F1EBFA"/>
          </a:solidFill>
          <a:ln w="1524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84248"/>
            <a:ext cx="4764024" cy="38039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7954C7"/>
                </a:solidFill>
              </a:defRPr>
            </a:pPr>
            <a:r>
              <a:t>🔑 3-Tier Envelope Protocol</a:t>
            </a:r>
          </a:p>
          <a:p>
            <a:pPr>
              <a:spcAft>
                <a:spcPts val="700"/>
              </a:spcAft>
            </a:pPr>
            <a:r>
              <a:rPr b="1">
                <a:solidFill>
                  <a:srgbClr val="7954C7"/>
                </a:solidFill>
              </a:rPr>
              <a:t>• </a:t>
            </a:r>
            <a:r>
              <a:rPr b="1" sz="1050">
                <a:solidFill>
                  <a:srgbClr val="241B36"/>
                </a:solidFill>
              </a:rPr>
              <a:t>1. Root Key Authority: </a:t>
            </a:r>
            <a:r>
              <a:rPr b="0" sz="1000">
                <a:solidFill>
                  <a:srgbClr val="241B36"/>
                </a:solidFill>
              </a:rPr>
              <a:t>Server Root Key (KEY_VAULT_ROOT_KEY) protects Master KEKs at rest; raw keys are unwrapped only in transient memory.</a:t>
            </a:r>
          </a:p>
          <a:p>
            <a:pPr>
              <a:spcAft>
                <a:spcPts val="700"/>
              </a:spcAft>
            </a:pPr>
            <a:r>
              <a:rPr b="1">
                <a:solidFill>
                  <a:srgbClr val="7954C7"/>
                </a:solidFill>
              </a:rPr>
              <a:t>• </a:t>
            </a:r>
            <a:r>
              <a:rPr b="1" sz="1050">
                <a:solidFill>
                  <a:srgbClr val="241B36"/>
                </a:solidFill>
              </a:rPr>
              <a:t>2. Fresh DEK Generation: </a:t>
            </a:r>
            <a:r>
              <a:rPr b="0" sz="1000">
                <a:solidFill>
                  <a:srgbClr val="241B36"/>
                </a:solidFill>
              </a:rPr>
              <a:t>Every secret generates a fresh, unique 256-bit AES Data Key (DEK) via OS CSPRNG plus a fresh 96-bit random nonce.</a:t>
            </a:r>
          </a:p>
          <a:p>
            <a:pPr>
              <a:spcAft>
                <a:spcPts val="700"/>
              </a:spcAft>
            </a:pPr>
            <a:r>
              <a:rPr b="1">
                <a:solidFill>
                  <a:srgbClr val="7954C7"/>
                </a:solidFill>
              </a:rPr>
              <a:t>• </a:t>
            </a:r>
            <a:r>
              <a:rPr b="1" sz="1050">
                <a:solidFill>
                  <a:srgbClr val="241B36"/>
                </a:solidFill>
              </a:rPr>
              <a:t>3. Payload Encryption: </a:t>
            </a:r>
            <a:r>
              <a:rPr b="0" sz="1000">
                <a:solidFill>
                  <a:srgbClr val="241B36"/>
                </a:solidFill>
              </a:rPr>
              <a:t>Secret payload is encrypted under DEK using AES-256-GCM, yielding ciphertext and a 128-bit MAC authentication tag.</a:t>
            </a:r>
          </a:p>
          <a:p>
            <a:pPr>
              <a:spcAft>
                <a:spcPts val="700"/>
              </a:spcAft>
            </a:pPr>
            <a:r>
              <a:rPr b="1">
                <a:solidFill>
                  <a:srgbClr val="7954C7"/>
                </a:solidFill>
              </a:rPr>
              <a:t>• </a:t>
            </a:r>
            <a:r>
              <a:rPr b="1" sz="1050">
                <a:solidFill>
                  <a:srgbClr val="241B36"/>
                </a:solidFill>
              </a:rPr>
              <a:t>4. DEK Wrapping: </a:t>
            </a:r>
            <a:r>
              <a:rPr b="0" sz="1000">
                <a:solidFill>
                  <a:srgbClr val="241B36"/>
                </a:solidFill>
              </a:rPr>
              <a:t>DEK is encrypted under Master KEK via AES-256-GCM and stored in SQLite as `encrypted_dek`.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783080"/>
            <a:ext cx="5166360" cy="4206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4808" y="1984248"/>
            <a:ext cx="4764024" cy="38039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7954C7"/>
                </a:solidFill>
              </a:defRPr>
            </a:pPr>
            <a:r>
              <a:t>⚡ Scaling &amp; Cryptographic Invariants</a:t>
            </a:r>
          </a:p>
          <a:p>
            <a:pPr>
              <a:spcAft>
                <a:spcPts val="700"/>
              </a:spcAft>
            </a:pPr>
            <a:r>
              <a:rPr b="1">
                <a:solidFill>
                  <a:srgbClr val="7954C7"/>
                </a:solidFill>
              </a:rPr>
              <a:t>• </a:t>
            </a:r>
            <a:r>
              <a:rPr b="1" sz="1050">
                <a:solidFill>
                  <a:srgbClr val="241B36"/>
                </a:solidFill>
              </a:rPr>
              <a:t>Argon2id Passwords: </a:t>
            </a:r>
            <a:r>
              <a:rPr b="0" sz="1000">
                <a:solidFill>
                  <a:srgbClr val="241B36"/>
                </a:solidFill>
              </a:rPr>
              <a:t>Memory-hard password hashing (m=64 MiB, t=2, p=2) protects user credentials against GPU/ASIC cracking.</a:t>
            </a:r>
          </a:p>
          <a:p>
            <a:pPr>
              <a:spcAft>
                <a:spcPts val="700"/>
              </a:spcAft>
            </a:pPr>
            <a:r>
              <a:rPr b="1">
                <a:solidFill>
                  <a:srgbClr val="7954C7"/>
                </a:solidFill>
              </a:rPr>
              <a:t>• </a:t>
            </a:r>
            <a:r>
              <a:rPr b="1" sz="1050">
                <a:solidFill>
                  <a:srgbClr val="241B36"/>
                </a:solidFill>
              </a:rPr>
              <a:t>Zero-Downtime Rotation: </a:t>
            </a:r>
            <a:r>
              <a:rPr b="0" sz="1000">
                <a:solidFill>
                  <a:srgbClr val="241B36"/>
                </a:solidFill>
              </a:rPr>
              <a:t>Rotating Master Key generates new KEK and re-wraps existing DEKs in milliseconds without re-encrypting payloads.</a:t>
            </a:r>
          </a:p>
          <a:p>
            <a:pPr>
              <a:spcAft>
                <a:spcPts val="700"/>
              </a:spcAft>
            </a:pPr>
            <a:r>
              <a:rPr b="1">
                <a:solidFill>
                  <a:srgbClr val="7954C7"/>
                </a:solidFill>
              </a:rPr>
              <a:t>• </a:t>
            </a:r>
            <a:r>
              <a:rPr b="1" sz="1050">
                <a:solidFill>
                  <a:srgbClr val="241B36"/>
                </a:solidFill>
              </a:rPr>
              <a:t>Unique 96-bit Nonces: </a:t>
            </a:r>
            <a:r>
              <a:rPr b="0" sz="1000">
                <a:solidFill>
                  <a:srgbClr val="241B36"/>
                </a:solidFill>
              </a:rPr>
              <a:t>Nonce collision probability is mathematically negligible (&lt; 1 in 2^48), adhering strictly to NIST SP 800-38D.</a:t>
            </a:r>
          </a:p>
          <a:p>
            <a:pPr>
              <a:spcAft>
                <a:spcPts val="700"/>
              </a:spcAft>
            </a:pPr>
            <a:r>
              <a:rPr b="1">
                <a:solidFill>
                  <a:srgbClr val="7954C7"/>
                </a:solidFill>
              </a:rPr>
              <a:t>• </a:t>
            </a:r>
            <a:r>
              <a:rPr b="1" sz="1050">
                <a:solidFill>
                  <a:srgbClr val="241B36"/>
                </a:solidFill>
              </a:rPr>
              <a:t>Authenticated Integrity: </a:t>
            </a:r>
            <a:r>
              <a:rPr b="0" sz="1000">
                <a:solidFill>
                  <a:srgbClr val="241B36"/>
                </a:solidFill>
              </a:rPr>
              <a:t>AES-GCM guarantees that modifying 1 bit of stored ciphertext causes an immediate `InvalidTag` (HTTP 400) abort.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2179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F647C"/>
                </a:solidFill>
              </a:defRPr>
            </a:pPr>
            <a:r>
              <a:t>Authentication and cryptography  |  Application oral defense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21792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7954C7"/>
                </a:solidFill>
              </a:defRPr>
            </a:pPr>
            <a:r>
              <a:t>•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7954C7"/>
                </a:solidFill>
              </a:defRPr>
            </a:pPr>
            <a:r>
              <a:t>ENTERPRISE KMS VAULT  •  04 SECURITY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41B36"/>
                </a:solidFill>
              </a:defRPr>
            </a:pPr>
            <a:r>
              <a:t>Verified Defensive Controls &amp;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6F647C"/>
                </a:solidFill>
              </a:defRPr>
            </a:pPr>
            <a:r>
              <a:t>Satisfying the course standard: 'No evidence = no credit for the claimed security result.'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166360" cy="4206240"/>
          </a:xfrm>
          <a:prstGeom prst="roundRect">
            <a:avLst/>
          </a:prstGeom>
          <a:solidFill>
            <a:srgbClr val="F1EBFA"/>
          </a:solidFill>
          <a:ln w="1524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84248"/>
            <a:ext cx="4764024" cy="38039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7954C7"/>
                </a:solidFill>
              </a:defRPr>
            </a:pPr>
            <a:r>
              <a:t>🛡️ Verified Defensive Controls</a:t>
            </a:r>
          </a:p>
          <a:p>
            <a:pPr>
              <a:spcAft>
                <a:spcPts val="700"/>
              </a:spcAft>
            </a:pPr>
            <a:r>
              <a:rPr b="1">
                <a:solidFill>
                  <a:srgbClr val="7954C7"/>
                </a:solidFill>
              </a:rPr>
              <a:t>• </a:t>
            </a:r>
            <a:r>
              <a:rPr b="1" sz="1050">
                <a:solidFill>
                  <a:srgbClr val="241B36"/>
                </a:solidFill>
              </a:rPr>
              <a:t>Anti-IDOR &amp; Zero-Knowledge: </a:t>
            </a:r>
            <a:r>
              <a:rPr b="0" sz="1000">
                <a:solidFill>
                  <a:srgbClr val="241B36"/>
                </a:solidFill>
              </a:rPr>
              <a:t>Cross-tenant secret retrieval and Admin secret access are rejected (HTTP 403 Forbidden). Zero plaintext leaked.</a:t>
            </a:r>
          </a:p>
          <a:p>
            <a:pPr>
              <a:spcAft>
                <a:spcPts val="700"/>
              </a:spcAft>
            </a:pPr>
            <a:r>
              <a:rPr b="1">
                <a:solidFill>
                  <a:srgbClr val="7954C7"/>
                </a:solidFill>
              </a:rPr>
              <a:t>• </a:t>
            </a:r>
            <a:r>
              <a:rPr b="1" sz="1050">
                <a:solidFill>
                  <a:srgbClr val="241B36"/>
                </a:solidFill>
              </a:rPr>
              <a:t>1-Bit Tamper Abort (HTTP 400): </a:t>
            </a:r>
            <a:r>
              <a:rPr b="0" sz="1000">
                <a:solidFill>
                  <a:srgbClr val="241B36"/>
                </a:solidFill>
              </a:rPr>
              <a:t>Directly modifying 1 bit of ciphertext in SQLite triggers AES-GCM MAC failure (`InvalidTag`), aborting decryption.</a:t>
            </a:r>
          </a:p>
          <a:p>
            <a:pPr>
              <a:spcAft>
                <a:spcPts val="700"/>
              </a:spcAft>
            </a:pPr>
            <a:r>
              <a:rPr b="1">
                <a:solidFill>
                  <a:srgbClr val="7954C7"/>
                </a:solidFill>
              </a:rPr>
              <a:t>• </a:t>
            </a:r>
            <a:r>
              <a:rPr b="1" sz="1050">
                <a:solidFill>
                  <a:srgbClr val="241B36"/>
                </a:solidFill>
              </a:rPr>
              <a:t>Audit Chain Break Alert: </a:t>
            </a:r>
            <a:r>
              <a:rPr b="0" sz="1000">
                <a:solidFill>
                  <a:srgbClr val="241B36"/>
                </a:solidFill>
              </a:rPr>
              <a:t>Editing a row in SQLite audit table permanently breaks the SHA-256 recursive hash chain, pinpointing the exact row index.</a:t>
            </a:r>
          </a:p>
          <a:p>
            <a:pPr>
              <a:spcAft>
                <a:spcPts val="700"/>
              </a:spcAft>
            </a:pPr>
            <a:r>
              <a:rPr b="1">
                <a:solidFill>
                  <a:srgbClr val="7954C7"/>
                </a:solidFill>
              </a:rPr>
              <a:t>• </a:t>
            </a:r>
            <a:r>
              <a:rPr b="1" sz="1050">
                <a:solidFill>
                  <a:srgbClr val="241B36"/>
                </a:solidFill>
              </a:rPr>
              <a:t>Brute-Force Lockout (HTTP 403): </a:t>
            </a:r>
            <a:r>
              <a:rPr b="0" sz="1000">
                <a:solidFill>
                  <a:srgbClr val="241B36"/>
                </a:solidFill>
              </a:rPr>
              <a:t>5 failed login attempts trigger an automated 15-minute account lockout, stopping credential stuffing attacks.</a:t>
            </a:r>
          </a:p>
          <a:p>
            <a:pPr>
              <a:spcAft>
                <a:spcPts val="700"/>
              </a:spcAft>
            </a:pPr>
            <a:r>
              <a:rPr b="1">
                <a:solidFill>
                  <a:srgbClr val="7954C7"/>
                </a:solidFill>
              </a:rPr>
              <a:t>• </a:t>
            </a:r>
            <a:r>
              <a:rPr b="1" sz="1050">
                <a:solidFill>
                  <a:srgbClr val="241B36"/>
                </a:solidFill>
              </a:rPr>
              <a:t>Instant Token Revocation: </a:t>
            </a:r>
            <a:r>
              <a:rPr b="0" sz="1000">
                <a:solidFill>
                  <a:srgbClr val="241B36"/>
                </a:solidFill>
              </a:rPr>
              <a:t>Logged-out bearer tokens and cookies are rejected immediately with HTTP 401 Unauthorized.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783080"/>
            <a:ext cx="5166360" cy="4206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4808" y="1984248"/>
            <a:ext cx="4764024" cy="38039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7954C7"/>
                </a:solidFill>
              </a:defRPr>
            </a:pPr>
            <a:r>
              <a:t>✅ Automated Verification Suite (100% Pass)</a:t>
            </a:r>
          </a:p>
          <a:p>
            <a:pPr>
              <a:spcAft>
                <a:spcPts val="700"/>
              </a:spcAft>
            </a:pPr>
            <a:r>
              <a:rPr b="1">
                <a:solidFill>
                  <a:srgbClr val="7954C7"/>
                </a:solidFill>
              </a:rPr>
              <a:t>• </a:t>
            </a:r>
            <a:r>
              <a:rPr b="1" sz="1050">
                <a:solidFill>
                  <a:srgbClr val="241B36"/>
                </a:solidFill>
              </a:rPr>
              <a:t>Total Tests Passing: </a:t>
            </a:r>
            <a:r>
              <a:rPr b="0" sz="1000">
                <a:solidFill>
                  <a:srgbClr val="241B36"/>
                </a:solidFill>
              </a:rPr>
              <a:t>77 / 77 passed (100% pass rate in pytest across all test suites in 8.12s).</a:t>
            </a:r>
          </a:p>
          <a:p>
            <a:pPr>
              <a:spcAft>
                <a:spcPts val="700"/>
              </a:spcAft>
            </a:pPr>
            <a:r>
              <a:rPr b="1">
                <a:solidFill>
                  <a:srgbClr val="7954C7"/>
                </a:solidFill>
              </a:rPr>
              <a:t>• </a:t>
            </a:r>
            <a:r>
              <a:rPr b="1" sz="1050">
                <a:solidFill>
                  <a:srgbClr val="241B36"/>
                </a:solidFill>
              </a:rPr>
              <a:t>Crypto Unit Suite: </a:t>
            </a:r>
            <a:r>
              <a:rPr b="0" sz="1000">
                <a:solidFill>
                  <a:srgbClr val="241B36"/>
                </a:solidFill>
              </a:rPr>
              <a:t>18/18 passed: Argon2id, AES-GCM, IV entropy, tag verification, and KEK wrapping.</a:t>
            </a:r>
          </a:p>
          <a:p>
            <a:pPr>
              <a:spcAft>
                <a:spcPts val="700"/>
              </a:spcAft>
            </a:pPr>
            <a:r>
              <a:rPr b="1">
                <a:solidFill>
                  <a:srgbClr val="7954C7"/>
                </a:solidFill>
              </a:rPr>
              <a:t>• </a:t>
            </a:r>
            <a:r>
              <a:rPr b="1" sz="1050">
                <a:solidFill>
                  <a:srgbClr val="241B36"/>
                </a:solidFill>
              </a:rPr>
              <a:t>API &amp; RBAC Suite: </a:t>
            </a:r>
            <a:r>
              <a:rPr b="0" sz="1000">
                <a:solidFill>
                  <a:srgbClr val="241B36"/>
                </a:solidFill>
              </a:rPr>
              <a:t>25/25 passed: Role validation (ADMIN/USER/AUDITOR), anti-IDOR, key rotation, and session revocation.</a:t>
            </a:r>
          </a:p>
          <a:p>
            <a:pPr>
              <a:spcAft>
                <a:spcPts val="700"/>
              </a:spcAft>
            </a:pPr>
            <a:r>
              <a:rPr b="1">
                <a:solidFill>
                  <a:srgbClr val="7954C7"/>
                </a:solidFill>
              </a:rPr>
              <a:t>• </a:t>
            </a:r>
            <a:r>
              <a:rPr b="1" sz="1050">
                <a:solidFill>
                  <a:srgbClr val="241B36"/>
                </a:solidFill>
              </a:rPr>
              <a:t>Attack Simulation Suite: </a:t>
            </a:r>
            <a:r>
              <a:rPr b="0" sz="1000">
                <a:solidFill>
                  <a:srgbClr val="241B36"/>
                </a:solidFill>
              </a:rPr>
              <a:t>18/18 passed: Brute-force lockout, bit-tampering abort, and audit chain break detection.</a:t>
            </a:r>
          </a:p>
          <a:p>
            <a:pPr>
              <a:spcAft>
                <a:spcPts val="700"/>
              </a:spcAft>
            </a:pPr>
            <a:r>
              <a:rPr b="1">
                <a:solidFill>
                  <a:srgbClr val="7954C7"/>
                </a:solidFill>
              </a:rPr>
              <a:t>• </a:t>
            </a:r>
            <a:r>
              <a:rPr b="1" sz="1050">
                <a:solidFill>
                  <a:srgbClr val="241B36"/>
                </a:solidFill>
              </a:rPr>
              <a:t>Key Rotation Re-wrapping: </a:t>
            </a:r>
            <a:r>
              <a:rPr b="0" sz="1000">
                <a:solidFill>
                  <a:srgbClr val="241B36"/>
                </a:solidFill>
              </a:rPr>
              <a:t>Verified: secrets created before key rotation decrypt seamlessly after rotation.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2179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F647C"/>
                </a:solidFill>
              </a:defRPr>
            </a:pPr>
            <a:r>
              <a:t>Authentication and cryptography  |  Application oral defense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21792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7954C7"/>
                </a:solidFill>
              </a:defRPr>
            </a:pPr>
            <a:r>
              <a:t>•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7954C7"/>
                </a:solidFill>
              </a:defRPr>
            </a:pPr>
            <a:r>
              <a:t>ENTERPRISE KMS VAULT  •  05 LIVE DEMO &amp;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41B36"/>
                </a:solidFill>
              </a:defRPr>
            </a:pPr>
            <a:r>
              <a:t>Live Demonstration Roadmap &amp; Jury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6F647C"/>
                </a:solidFill>
              </a:defRPr>
            </a:pPr>
            <a:r>
              <a:t>A concise 5-minute live walkthrough demonstrating each security boundary directly to the jury.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166360" cy="4206240"/>
          </a:xfrm>
          <a:prstGeom prst="roundRect">
            <a:avLst/>
          </a:prstGeom>
          <a:solidFill>
            <a:srgbClr val="F1EBFA"/>
          </a:solidFill>
          <a:ln w="1524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84248"/>
            <a:ext cx="4764024" cy="38039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7954C7"/>
                </a:solidFill>
              </a:defRPr>
            </a:pPr>
            <a:r>
              <a:t>🎬 4-Step Live Demo Roadmap</a:t>
            </a:r>
          </a:p>
          <a:p>
            <a:pPr>
              <a:spcAft>
                <a:spcPts val="700"/>
              </a:spcAft>
            </a:pPr>
            <a:r>
              <a:rPr b="1">
                <a:solidFill>
                  <a:srgbClr val="7954C7"/>
                </a:solidFill>
              </a:rPr>
              <a:t>• </a:t>
            </a:r>
            <a:r>
              <a:rPr b="1" sz="1050">
                <a:solidFill>
                  <a:srgbClr val="241B36"/>
                </a:solidFill>
              </a:rPr>
              <a:t>Step 1 — Auth &amp; Lockout: </a:t>
            </a:r>
            <a:r>
              <a:rPr b="0" sz="1000">
                <a:solidFill>
                  <a:srgbClr val="241B36"/>
                </a:solidFill>
              </a:rPr>
              <a:t>Demonstrate Argon2id hashing; intentionally fail password 5 times to show automated account lockout (`HTTP 403`).</a:t>
            </a:r>
          </a:p>
          <a:p>
            <a:pPr>
              <a:spcAft>
                <a:spcPts val="700"/>
              </a:spcAft>
            </a:pPr>
            <a:r>
              <a:rPr b="1">
                <a:solidFill>
                  <a:srgbClr val="7954C7"/>
                </a:solidFill>
              </a:rPr>
              <a:t>• </a:t>
            </a:r>
            <a:r>
              <a:rPr b="1" sz="1050">
                <a:solidFill>
                  <a:srgbClr val="241B36"/>
                </a:solidFill>
              </a:rPr>
              <a:t>Step 2 — Key Management &amp; Rotation: </a:t>
            </a:r>
            <a:r>
              <a:rPr b="0" sz="1000">
                <a:solidFill>
                  <a:srgbClr val="241B36"/>
                </a:solidFill>
              </a:rPr>
              <a:t>Admin creates Master Key and rotates it; verify automated DEK re-wrapping and uninterrupted secret access.</a:t>
            </a:r>
          </a:p>
          <a:p>
            <a:pPr>
              <a:spcAft>
                <a:spcPts val="700"/>
              </a:spcAft>
            </a:pPr>
            <a:r>
              <a:rPr b="1">
                <a:solidFill>
                  <a:srgbClr val="7954C7"/>
                </a:solidFill>
              </a:rPr>
              <a:t>• </a:t>
            </a:r>
            <a:r>
              <a:rPr b="1" sz="1050">
                <a:solidFill>
                  <a:srgbClr val="241B36"/>
                </a:solidFill>
              </a:rPr>
              <a:t>Step 3 — Storage &amp; Anti-IDOR: </a:t>
            </a:r>
            <a:r>
              <a:rPr b="0" sz="1000">
                <a:solidFill>
                  <a:srgbClr val="241B36"/>
                </a:solidFill>
              </a:rPr>
              <a:t>Create secret in UI; inspect SQLite directly to prove zero plaintext, then simulate cross-tenant IDOR 403 block.</a:t>
            </a:r>
          </a:p>
          <a:p>
            <a:pPr>
              <a:spcAft>
                <a:spcPts val="700"/>
              </a:spcAft>
            </a:pPr>
            <a:r>
              <a:rPr b="1">
                <a:solidFill>
                  <a:srgbClr val="7954C7"/>
                </a:solidFill>
              </a:rPr>
              <a:t>• </a:t>
            </a:r>
            <a:r>
              <a:rPr b="1" sz="1050">
                <a:solidFill>
                  <a:srgbClr val="241B36"/>
                </a:solidFill>
              </a:rPr>
              <a:t>Step 4 — Tampering &amp; Chain Break: </a:t>
            </a:r>
            <a:r>
              <a:rPr b="0" sz="1000">
                <a:solidFill>
                  <a:srgbClr val="241B36"/>
                </a:solidFill>
              </a:rPr>
              <a:t>Flip 1 byte in SQLite to show GCM MAC failure (HTTP 400); modify audit row in DB to show instant hash chain break detection.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783080"/>
            <a:ext cx="5166360" cy="4206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4808" y="1984248"/>
            <a:ext cx="4764024" cy="38039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7954C7"/>
                </a:solidFill>
              </a:defRPr>
            </a:pPr>
            <a:r>
              <a:t>💡 Jury Defense Q&amp;A Cheatsheet</a:t>
            </a:r>
          </a:p>
          <a:p>
            <a:pPr>
              <a:spcAft>
                <a:spcPts val="700"/>
              </a:spcAft>
            </a:pPr>
            <a:r>
              <a:rPr b="1">
                <a:solidFill>
                  <a:srgbClr val="7954C7"/>
                </a:solidFill>
              </a:rPr>
              <a:t>• </a:t>
            </a:r>
            <a:r>
              <a:rPr b="1" sz="1050">
                <a:solidFill>
                  <a:srgbClr val="241B36"/>
                </a:solidFill>
              </a:rPr>
              <a:t>Q: Why GCM over CBC mode?: </a:t>
            </a:r>
            <a:r>
              <a:rPr b="0" sz="1000">
                <a:solidFill>
                  <a:srgbClr val="241B36"/>
                </a:solidFill>
              </a:rPr>
              <a:t>A: GCM provides authenticated encryption with 128-bit MAC tag. CBC is vulnerable to padding oracles and bit-flipping.</a:t>
            </a:r>
          </a:p>
          <a:p>
            <a:pPr>
              <a:spcAft>
                <a:spcPts val="700"/>
              </a:spcAft>
            </a:pPr>
            <a:r>
              <a:rPr b="1">
                <a:solidFill>
                  <a:srgbClr val="7954C7"/>
                </a:solidFill>
              </a:rPr>
              <a:t>• </a:t>
            </a:r>
            <a:r>
              <a:rPr b="1" sz="1050">
                <a:solidFill>
                  <a:srgbClr val="241B36"/>
                </a:solidFill>
              </a:rPr>
              <a:t>Q: Why Argon2id over PBKDF2?: </a:t>
            </a:r>
            <a:r>
              <a:rPr b="0" sz="1000">
                <a:solidFill>
                  <a:srgbClr val="241B36"/>
                </a:solidFill>
              </a:rPr>
              <a:t>A: Argon2id is memory-hard, defeating ASIC and GPU parallel cracking. It is the winner of the Password Hashing Competition.</a:t>
            </a:r>
          </a:p>
          <a:p>
            <a:pPr>
              <a:spcAft>
                <a:spcPts val="700"/>
              </a:spcAft>
            </a:pPr>
            <a:r>
              <a:rPr b="1">
                <a:solidFill>
                  <a:srgbClr val="7954C7"/>
                </a:solidFill>
              </a:rPr>
              <a:t>• </a:t>
            </a:r>
            <a:r>
              <a:rPr b="1" sz="1050">
                <a:solidFill>
                  <a:srgbClr val="241B36"/>
                </a:solidFill>
              </a:rPr>
              <a:t>Q: How does rotation scale?: </a:t>
            </a:r>
            <a:r>
              <a:rPr b="0" sz="1000">
                <a:solidFill>
                  <a:srgbClr val="241B36"/>
                </a:solidFill>
              </a:rPr>
              <a:t>A: Envelope encryption means only 256-bit DEKs are re-wrapped. Secret payloads are never touched.</a:t>
            </a:r>
          </a:p>
          <a:p>
            <a:pPr>
              <a:spcAft>
                <a:spcPts val="700"/>
              </a:spcAft>
            </a:pPr>
            <a:r>
              <a:rPr b="1">
                <a:solidFill>
                  <a:srgbClr val="7954C7"/>
                </a:solidFill>
              </a:rPr>
              <a:t>• </a:t>
            </a:r>
            <a:r>
              <a:rPr b="1" sz="1050">
                <a:solidFill>
                  <a:srgbClr val="241B36"/>
                </a:solidFill>
              </a:rPr>
              <a:t>Q: Can an admin forge audit logs?: </a:t>
            </a:r>
            <a:r>
              <a:rPr b="0" sz="1000">
                <a:solidFill>
                  <a:srgbClr val="241B36"/>
                </a:solidFill>
              </a:rPr>
              <a:t>A: No; records are chained recursively via SHA-256 and signed via HMAC. Any alteration breaks the chain.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2179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F647C"/>
                </a:solidFill>
              </a:defRPr>
            </a:pPr>
            <a:r>
              <a:t>Authentication and cryptography  |  Application oral defense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21792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7954C7"/>
                </a:solidFill>
              </a:defRPr>
            </a:pPr>
            <a:r>
              <a:t>•  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