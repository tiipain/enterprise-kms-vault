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(Ahmed):</a:t>
            </a:r>
          </a:p>
          <a:p>
            <a:r>
              <a:t>Good morning members of the jury. I am Ahmed Amine Ghenimi, and with Abdallah Dridi, we present Enterprise KMS Vault.</a:t>
            </a:r>
          </a:p>
          <a:p>
            <a:r>
              <a:t>Our project addresses a core enterprise vulnerability: sensitive operational credentials stored carelessly in plaintext.</a:t>
            </a:r>
          </a:p>
          <a:p>
            <a:r>
              <a:t>We built a production-grade Key Management and Zero-Knowledge Vault enforcing 2-tier envelope encryption, dual-custody ceremony, and tamper-evident audit chaining.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(Abdallah):</a:t>
            </a:r>
          </a:p>
          <a:p>
            <a:r>
              <a:t>Point to the left: Most breaches occur because credentials sit in plaintext tables. If a backup is leaked, everything is compromised.</a:t>
            </a:r>
          </a:p>
          <a:p>
            <a:r>
              <a:t>Point to the right: Our system enforces Zero Plaintext at Rest. Even with full access to keyvault.db, an adversary gets only high-entropy ciphertext.</a:t>
            </a:r>
          </a:p>
          <a:p>
            <a:r>
              <a:t>Plaintext is only recovered on-demand via role-checked API calls with an in-memory unlocked master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(Ahmed):</a:t>
            </a:r>
          </a:p>
          <a:p>
            <a:r>
              <a:t>Here are our three architectural trust boundaries:</a:t>
            </a:r>
          </a:p>
          <a:p>
            <a:r>
              <a:t>1. The Client never holds master keys.</a:t>
            </a:r>
          </a:p>
          <a:p>
            <a:r>
              <a:t>2. The FastAPI backend validates ownership before invoking decryption, stopping IDOR vulnerabilities at the root.</a:t>
            </a:r>
          </a:p>
          <a:p>
            <a:r>
              <a:t>3. The KMS Core holds the master key strictly in RAM. When the process shuts down, the master key instantly vanishes from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(Abdallah):</a:t>
            </a:r>
          </a:p>
          <a:p>
            <a:r>
              <a:t>Explain the key architectural question the jury will ask:</a:t>
            </a:r>
          </a:p>
          <a:p>
            <a:r>
              <a:t>'Why envelope encryption instead of direct master key encryption?'</a:t>
            </a:r>
          </a:p>
          <a:p>
            <a:r>
              <a:t>Answer: If you encrypt 10,000 secrets directly with a master key and rotate it, you must decrypt and re-encrypt all 10,000 secrets, risking data corruption and downtime.</a:t>
            </a:r>
          </a:p>
          <a:p>
            <a:r>
              <a:t>With Envelope Encryption, each secret has its own DEK. Rotating the master key only re-wraps the small DEKs in milliseconds with zero downtime.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(Ahmed):</a:t>
            </a:r>
          </a:p>
          <a:p>
            <a:r>
              <a:t>This slide directly addresses the delivery standard: 'No evidence = no credit.'</a:t>
            </a:r>
          </a:p>
          <a:p>
            <a:r>
              <a:t>We have verified all 4 defensive mechanisms with 75 automated tests in pytest:</a:t>
            </a:r>
          </a:p>
          <a:p>
            <a:r>
              <a:t>1. Anti-IDOR is verified.</a:t>
            </a:r>
          </a:p>
          <a:p>
            <a:r>
              <a:t>2. 1-bit tampering causes cryptographic abort.</a:t>
            </a:r>
          </a:p>
          <a:p>
            <a:r>
              <a:t>3. Audit tampering breaks the hash chain.</a:t>
            </a:r>
          </a:p>
          <a:p>
            <a:r>
              <a:t>4. Account lockout stops brute-force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(Ahmed &amp; Abdallah Closing):</a:t>
            </a:r>
          </a:p>
          <a:p>
            <a:r>
              <a:t>This is our transition to the live defense demonstration.</a:t>
            </a:r>
          </a:p>
          <a:p>
            <a:r>
              <a:t>We will execute our 4-step live walkthrough directly in our terminal and browser.</a:t>
            </a:r>
          </a:p>
          <a:p>
            <a:r>
              <a:t>Ahmed demonstrates Steps 1 &amp; 2; Abdallah demonstrates Steps 3 &amp; 4.</a:t>
            </a:r>
          </a:p>
          <a:p>
            <a:r>
              <a:t>Thank you for your attention. We are now ready to begin the live demonstration and take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685800"/>
            <a:ext cx="8229600" cy="8229600"/>
          </a:xfrm>
          <a:prstGeom prst="ellipse">
            <a:avLst/>
          </a:prstGeom>
          <a:solidFill>
            <a:srgbClr val="1E1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228600"/>
            <a:ext cx="6400800" cy="6400800"/>
          </a:xfrm>
          <a:prstGeom prst="ellipse">
            <a:avLst/>
          </a:prstGeom>
          <a:solidFill>
            <a:srgbClr val="2E1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1143000"/>
            <a:ext cx="4572000" cy="4572000"/>
          </a:xfrm>
          <a:prstGeom prst="ellipse">
            <a:avLst/>
          </a:prstGeom>
          <a:solidFill>
            <a:srgbClr val="432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1965960"/>
            <a:ext cx="2926080" cy="2926080"/>
          </a:xfrm>
          <a:prstGeom prst="ellipse">
            <a:avLst/>
          </a:prstGeom>
          <a:solidFill>
            <a:srgbClr val="5E3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rporate_vault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965960"/>
            <a:ext cx="292608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8686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4B5FD"/>
                </a:solidFill>
              </a:defRPr>
            </a:pPr>
            <a:r>
              <a:t>🛡️  APPLICATION REPORT &amp; ORAL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6858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Enterprise KMS Vault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8BFA"/>
                </a:solidFill>
              </a:defRPr>
            </a:pPr>
            <a:r>
              <a:t>Secure Authentication &amp; Cryptographic Storage System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2-Tier Envelope Encryption  •  Dual-Custody Ceremony  •  Tamper-Evident SHA-256 Audit Chain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86200"/>
            <a:ext cx="5852160" cy="1371600"/>
          </a:xfrm>
          <a:prstGeom prst="roundRect">
            <a:avLst/>
          </a:prstGeom>
          <a:solidFill>
            <a:srgbClr val="17142A"/>
          </a:solidFill>
          <a:ln>
            <a:solidFill>
              <a:srgbClr val="2D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69080"/>
            <a:ext cx="5394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Ahmed Amine Ghenimi  &amp;  Abdallah Dridi</a:t>
            </a:r>
          </a:p>
          <a:p>
            <a:pPr>
              <a:defRPr sz="1000">
                <a:solidFill>
                  <a:srgbClr val="A78BFA"/>
                </a:solidFill>
              </a:defRPr>
            </a:pPr>
            <a:r>
              <a:t>ING 5 SSIRE A  •  Class of 2026  •  TEK-UP Engineering School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Course: Art of Protecting Secrets  •  Track 02 (Project 2: Protect)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</a:defRPr>
            </a:pPr>
            <a:r>
              <a:t>TECH STACK:  Python 3.12+  |  FastAPI  |  SQLite 3  |  PBKDF2-HMAC  |  AES-256-GCM  |  SHA-256 Chain  |  Pytest (75/75 Passed)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954C7"/>
                </a:solidFill>
              </a:defRPr>
            </a:pPr>
            <a:r>
              <a:t>ENTERPRISE KMS VAULT  •  01 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41B36"/>
                </a:solidFill>
              </a:defRPr>
            </a:pPr>
            <a:r>
              <a:t>The Real-World Threat &amp; The KMS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F647C"/>
                </a:solidFill>
              </a:defRPr>
            </a:pPr>
            <a:r>
              <a:t>Why storing credentials in databases fails and how Enterprise KMS Vault guarantees zero plaintext at rest.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4764024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7954C7"/>
                </a:solidFill>
              </a:defRPr>
            </a:pPr>
            <a:r>
              <a:t>⚠️ The Real-World Threat Landscape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Plaintext Exposure: </a:t>
            </a:r>
            <a:r>
              <a:rPr b="0" sz="1000">
                <a:solidFill>
                  <a:srgbClr val="241B36"/>
                </a:solidFill>
              </a:rPr>
              <a:t>Enterprises store API tokens, database credentials, and certificates in plaintext files and DB tables.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Backup &amp; Dump Theft: </a:t>
            </a:r>
            <a:r>
              <a:rPr b="0" sz="1000">
                <a:solidFill>
                  <a:srgbClr val="241B36"/>
                </a:solidFill>
              </a:rPr>
              <a:t>Attackers gaining read-only access to database backups or replicas immediately compromise all credentials.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No Tamper Detection: </a:t>
            </a:r>
            <a:r>
              <a:rPr b="0" sz="1000">
                <a:solidFill>
                  <a:srgbClr val="241B36"/>
                </a:solidFill>
              </a:rPr>
              <a:t>Traditional database rows can be silently modified or bit-flipped without the application noticing.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Single Admin Vulnerability: </a:t>
            </a:r>
            <a:r>
              <a:rPr b="0" sz="1000">
                <a:solidFill>
                  <a:srgbClr val="241B36"/>
                </a:solidFill>
              </a:rPr>
              <a:t>A single rogue administrator can exfiltrate or rotate the entire organization's cryptographic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166360" cy="420624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984248"/>
            <a:ext cx="4764024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7954C7"/>
                </a:solidFill>
              </a:defRPr>
            </a:pPr>
            <a:r>
              <a:t>🛡️ Enterprise KMS Vault Defensive Controls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Zero Plaintext at Rest: </a:t>
            </a:r>
            <a:r>
              <a:rPr b="0" sz="1000">
                <a:solidFill>
                  <a:srgbClr val="241B36"/>
                </a:solidFill>
              </a:rPr>
              <a:t>Inspecting the SQLite database reveals only high-entropy base64 ciphertext, IVs, and MAC tags.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2-Tier Envelope Isolation: </a:t>
            </a:r>
            <a:r>
              <a:rPr b="0" sz="1000">
                <a:solidFill>
                  <a:srgbClr val="241B36"/>
                </a:solidFill>
              </a:rPr>
              <a:t>A Master KEK protects per-secret Data Encryption Keys (DEKs); secrets are never encrypted under KEK directly.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Dual-Custody Ceremony: </a:t>
            </a:r>
            <a:r>
              <a:rPr b="0" sz="1000">
                <a:solidFill>
                  <a:srgbClr val="241B36"/>
                </a:solidFill>
              </a:rPr>
              <a:t>Unlocking master keys requires 2 distinct Security Administrators submitting split-knowledge shares.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Tamper-Evident SHA-256 Chain: </a:t>
            </a:r>
            <a:r>
              <a:rPr b="0" sz="1000">
                <a:solidFill>
                  <a:srgbClr val="241B36"/>
                </a:solidFill>
              </a:rPr>
              <a:t>Blockchain-style recursive hash chain detects any retroactive audit log alteration instantly.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F647C"/>
                </a:solidFill>
              </a:defRPr>
            </a:pPr>
            <a:r>
              <a:t>Authentication and cryptography  |  Application oral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2179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954C7"/>
                </a:solidFill>
              </a:defRPr>
            </a:pPr>
            <a:r>
              <a:t>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954C7"/>
                </a:solidFill>
              </a:defRPr>
            </a:pPr>
            <a:r>
              <a:t>ENTERPRISE KMS VAULT  •  02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41B36"/>
                </a:solidFill>
              </a:defRPr>
            </a:pPr>
            <a:r>
              <a:t>Architecture &amp; Trust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F647C"/>
                </a:solidFill>
              </a:defRPr>
            </a:pPr>
            <a:r>
              <a:t>Three strictly separated tiers isolate authentication, route authorization, and cryptographic keys.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3756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2935224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7954C7"/>
                </a:solidFill>
              </a:defRPr>
            </a:pPr>
            <a:r>
              <a:t>🌐 Client Workspace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Presentation Layer: </a:t>
            </a:r>
            <a:r>
              <a:rPr b="0" sz="1000">
                <a:solidFill>
                  <a:srgbClr val="241B36"/>
                </a:solidFill>
              </a:rPr>
              <a:t>Browser Web UI and authenticated REST API clients.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Token Transport: </a:t>
            </a:r>
            <a:r>
              <a:rPr b="0" sz="1000">
                <a:solidFill>
                  <a:srgbClr val="241B36"/>
                </a:solidFill>
              </a:rPr>
              <a:t>Session tokens transmitted via opaque Bearer headers over TLS.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Zero Key Knowledge: </a:t>
            </a:r>
            <a:r>
              <a:rPr b="0" sz="1000">
                <a:solidFill>
                  <a:srgbClr val="241B36"/>
                </a:solidFill>
              </a:rPr>
              <a:t>The client holds zero master keys or cryptographic shares.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No Plaintext Caching: </a:t>
            </a:r>
            <a:r>
              <a:rPr b="0" sz="1000">
                <a:solidFill>
                  <a:srgbClr val="241B36"/>
                </a:solidFill>
              </a:rPr>
              <a:t>Decrypted credentials exist only transiently in view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337560" cy="420624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84248"/>
            <a:ext cx="2935224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7954C7"/>
                </a:solidFill>
              </a:defRPr>
            </a:pPr>
            <a:r>
              <a:t>⚡ FastAPI Control Plane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Route Enforcement: </a:t>
            </a:r>
            <a:r>
              <a:rPr b="0" sz="1000">
                <a:solidFill>
                  <a:srgbClr val="241B36"/>
                </a:solidFill>
              </a:rPr>
              <a:t>4-tier Role-Based Access Control enforced via route dependencies.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Anti-IDOR Predicate: </a:t>
            </a:r>
            <a:r>
              <a:rPr b="0" sz="1000">
                <a:solidFill>
                  <a:srgbClr val="241B36"/>
                </a:solidFill>
              </a:rPr>
              <a:t>Validates secret ownership on server before any crypto operation.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Abuse Budget: </a:t>
            </a:r>
            <a:r>
              <a:rPr b="0" sz="1000">
                <a:solidFill>
                  <a:srgbClr val="241B36"/>
                </a:solidFill>
              </a:rPr>
              <a:t>Enforces 5-attempt brute-force lockout window (15-min freeze).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Audit Signing: </a:t>
            </a:r>
            <a:r>
              <a:rPr b="0" sz="1000">
                <a:solidFill>
                  <a:srgbClr val="241B36"/>
                </a:solidFill>
              </a:rPr>
              <a:t>Signs every authentication and access attempt via HMAC-SHA256.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83080"/>
            <a:ext cx="333756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984248"/>
            <a:ext cx="2935224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7954C7"/>
                </a:solidFill>
              </a:defRPr>
            </a:pPr>
            <a:r>
              <a:t>🔒 Storage &amp; KMS Core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Volatile KEK Cache: </a:t>
            </a:r>
            <a:r>
              <a:rPr b="0" sz="1000">
                <a:solidFill>
                  <a:srgbClr val="241B36"/>
                </a:solidFill>
              </a:rPr>
              <a:t>Master KEK exists strictly in volatile RAM memory cache.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Envelope Engine: </a:t>
            </a:r>
            <a:r>
              <a:rPr b="0" sz="1000">
                <a:solidFill>
                  <a:srgbClr val="241B36"/>
                </a:solidFill>
              </a:rPr>
              <a:t>2-Tier AES-256-GCM envelope cryptographic subsystem.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Zero-Plaintext DB: </a:t>
            </a:r>
            <a:r>
              <a:rPr b="0" sz="1000">
                <a:solidFill>
                  <a:srgbClr val="241B36"/>
                </a:solidFill>
              </a:rPr>
              <a:t>SQLite `keyvault.db` stores only base64 ciphertexts and tags.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SHA-256 Audit Chain: </a:t>
            </a:r>
            <a:r>
              <a:rPr b="0" sz="1000">
                <a:solidFill>
                  <a:srgbClr val="241B36"/>
                </a:solidFill>
              </a:rPr>
              <a:t>Recursive blockchain-style hash chain anchoring history.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F647C"/>
                </a:solidFill>
              </a:defRPr>
            </a:pPr>
            <a:r>
              <a:t>Authentication and cryptography  |  Application oral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2179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954C7"/>
                </a:solidFill>
              </a:defRPr>
            </a:pPr>
            <a:r>
              <a:t>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954C7"/>
                </a:solidFill>
              </a:defRPr>
            </a:pPr>
            <a:r>
              <a:t>ENTERPRISE KMS VAULT  •  03 CRYPTOGRAPHIC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41B36"/>
                </a:solidFill>
              </a:defRPr>
            </a:pPr>
            <a:r>
              <a:t>How It Works: 2-Tier Envelope Encryption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F647C"/>
                </a:solidFill>
              </a:defRPr>
            </a:pPr>
            <a:r>
              <a:t>Dual-custody ceremony derives volatile KEK; unique random DEKs encrypt individual secrets.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420624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4764024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7954C7"/>
                </a:solidFill>
              </a:defRPr>
            </a:pPr>
            <a:r>
              <a:t>🔑 2-Tier Envelope Protocol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1. Split Ceremony: </a:t>
            </a:r>
            <a:r>
              <a:rPr b="0" sz="1000">
                <a:solidFill>
                  <a:srgbClr val="241B36"/>
                </a:solidFill>
              </a:rPr>
              <a:t>Admin 1 (Share A) + Admin 2 (Share B) submit shares. Combined via PBKDF2 (600,000 rounds) into volatile RAM KEK.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2. Fresh DEK Generation: </a:t>
            </a:r>
            <a:r>
              <a:rPr b="0" sz="1000">
                <a:solidFill>
                  <a:srgbClr val="241B36"/>
                </a:solidFill>
              </a:rPr>
              <a:t>Every secret generates a fresh, unique 256-bit AES Data Key (DEK) via OS CSPRNG plus a fresh 96-bit random IV.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3. Payload Encryption: </a:t>
            </a:r>
            <a:r>
              <a:rPr b="0" sz="1000">
                <a:solidFill>
                  <a:srgbClr val="241B36"/>
                </a:solidFill>
              </a:rPr>
              <a:t>Secret payload is encrypted under DEK using AES-256-GCM, yielding ciphertext and a 128-bit MAC authentication tag.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4. DEK Wrapping: </a:t>
            </a:r>
            <a:r>
              <a:rPr b="0" sz="1000">
                <a:solidFill>
                  <a:srgbClr val="241B36"/>
                </a:solidFill>
              </a:rPr>
              <a:t>DEK is encrypted under Master KEK via AES-256-GCM and stored in SQLite as `encrypted_dek`.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16636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984248"/>
            <a:ext cx="4764024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7954C7"/>
                </a:solidFill>
              </a:defRPr>
            </a:pPr>
            <a:r>
              <a:t>⚡ Scaling &amp; Cryptographic Invariants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Zero KEK Disk Storage: </a:t>
            </a:r>
            <a:r>
              <a:rPr b="0" sz="1000">
                <a:solidFill>
                  <a:srgbClr val="241B36"/>
                </a:solidFill>
              </a:rPr>
              <a:t>The Master KEK is never written to disk or database. Server shutdown erases the key from RAM instantly.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Zero-Downtime Rotation: </a:t>
            </a:r>
            <a:r>
              <a:rPr b="0" sz="1000">
                <a:solidFill>
                  <a:srgbClr val="241B36"/>
                </a:solidFill>
              </a:rPr>
              <a:t>Rotating the Master Key only re-wraps lightweight 256-bit DEKs without re-encrypting gigabytes of secret payloads.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Unique 96-bit Nonces: </a:t>
            </a:r>
            <a:r>
              <a:rPr b="0" sz="1000">
                <a:solidFill>
                  <a:srgbClr val="241B36"/>
                </a:solidFill>
              </a:rPr>
              <a:t>Nonce collision probability is mathematically negligible (&lt; 1 in 2^48), adhering strictly to NIST SP 800-38D.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Authenticated Integrity: </a:t>
            </a:r>
            <a:r>
              <a:rPr b="0" sz="1000">
                <a:solidFill>
                  <a:srgbClr val="241B36"/>
                </a:solidFill>
              </a:rPr>
              <a:t>AES-GCM guarantees that modifying 1 bit of stored ciphertext causes an immediate `InvalidTag` decryption abort.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F647C"/>
                </a:solidFill>
              </a:defRPr>
            </a:pPr>
            <a:r>
              <a:t>Authentication and cryptography  |  Application oral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2179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954C7"/>
                </a:solidFill>
              </a:defRPr>
            </a:pPr>
            <a:r>
              <a:t>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954C7"/>
                </a:solidFill>
              </a:defRPr>
            </a:pPr>
            <a:r>
              <a:t>ENTERPRISE KMS VAULT  •  04 SECURITY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41B36"/>
                </a:solidFill>
              </a:defRPr>
            </a:pPr>
            <a:r>
              <a:t>Verified Defensive Controls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F647C"/>
                </a:solidFill>
              </a:defRPr>
            </a:pPr>
            <a:r>
              <a:t>Satisfying the course standard: 'No evidence = no credit for the claimed security result.'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420624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4764024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7954C7"/>
                </a:solidFill>
              </a:defRPr>
            </a:pPr>
            <a:r>
              <a:t>🛡️ Verified Defensive Controls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Anti-IDOR Block (HTTP 403): </a:t>
            </a:r>
            <a:r>
              <a:rPr b="0" sz="1000">
                <a:solidFill>
                  <a:srgbClr val="241B36"/>
                </a:solidFill>
              </a:rPr>
              <a:t>Cross-tenant secret retrieval attempts are rejected at the server predicate layer. Zero plaintext or metadata leaked.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1-Bit Tamper Abort: </a:t>
            </a:r>
            <a:r>
              <a:rPr b="0" sz="1000">
                <a:solidFill>
                  <a:srgbClr val="241B36"/>
                </a:solidFill>
              </a:rPr>
              <a:t>Directly modifying 1 bit of ciphertext in SQLite triggers AES-GCM MAC failure (`InvalidTagException`), aborting decryption.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Audit Chain Break Alert: </a:t>
            </a:r>
            <a:r>
              <a:rPr b="0" sz="1000">
                <a:solidFill>
                  <a:srgbClr val="241B36"/>
                </a:solidFill>
              </a:rPr>
              <a:t>Editing a row in SQLite audit table permanently breaks the SHA-256 recursive hash chain, pinpointing the exact row index.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Brute-Force Lockout (HTTP 429): </a:t>
            </a:r>
            <a:r>
              <a:rPr b="0" sz="1000">
                <a:solidFill>
                  <a:srgbClr val="241B36"/>
                </a:solidFill>
              </a:rPr>
              <a:t>5 failed login attempts trigger an automated 15-minute account lockout, stopping credential stuffing attacks.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16636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984248"/>
            <a:ext cx="4764024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7954C7"/>
                </a:solidFill>
              </a:defRPr>
            </a:pPr>
            <a:r>
              <a:t>✅ Automated Verification Suite (100% Pass)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Total Tests Passing: </a:t>
            </a:r>
            <a:r>
              <a:rPr b="0" sz="1000">
                <a:solidFill>
                  <a:srgbClr val="241B36"/>
                </a:solidFill>
              </a:rPr>
              <a:t>75 / 75 passed (100% pass rate in pytest across all test suites in 7.35s).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Crypto Unit Suite: </a:t>
            </a:r>
            <a:r>
              <a:rPr b="0" sz="1000">
                <a:solidFill>
                  <a:srgbClr val="241B36"/>
                </a:solidFill>
              </a:rPr>
              <a:t>18/18 passed: PBKDF2, AES-GCM, IV entropy, tag verification, and KEK derivation.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API &amp; RBAC Suite: </a:t>
            </a:r>
            <a:r>
              <a:rPr b="0" sz="1000">
                <a:solidFill>
                  <a:srgbClr val="241B36"/>
                </a:solidFill>
              </a:rPr>
              <a:t>23/23 passed: Role validation, anti-IDOR, ceremony routes, and session revocation.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Attack Simulation Suite: </a:t>
            </a:r>
            <a:r>
              <a:rPr b="0" sz="1000">
                <a:solidFill>
                  <a:srgbClr val="241B36"/>
                </a:solidFill>
              </a:rPr>
              <a:t>14/14 passed: Brute-force lockout, bit-tampering abort, and audit chain break detection.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Dependency Security: </a:t>
            </a:r>
            <a:r>
              <a:rPr b="0" sz="1000">
                <a:solidFill>
                  <a:srgbClr val="241B36"/>
                </a:solidFill>
              </a:rPr>
              <a:t>Zero known vulnerabilities across all pinned runtime dependencies.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F647C"/>
                </a:solidFill>
              </a:defRPr>
            </a:pPr>
            <a:r>
              <a:t>Authentication and cryptography  |  Application oral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2179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954C7"/>
                </a:solidFill>
              </a:defRPr>
            </a:pPr>
            <a:r>
              <a:t>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954C7"/>
                </a:solidFill>
              </a:defRPr>
            </a:pPr>
            <a:r>
              <a:t>ENTERPRISE KMS VAULT  •  05 LIVE DEMO &amp;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41B36"/>
                </a:solidFill>
              </a:defRPr>
            </a:pPr>
            <a:r>
              <a:t>Live Demonstration Roadmap &amp; Jury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F647C"/>
                </a:solidFill>
              </a:defRPr>
            </a:pPr>
            <a:r>
              <a:t>A concise 5-minute live walkthrough demonstrating each security boundary directly to the jury.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4206240"/>
          </a:xfrm>
          <a:prstGeom prst="roundRect">
            <a:avLst/>
          </a:prstGeom>
          <a:solidFill>
            <a:srgbClr val="F1EBFA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4764024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7954C7"/>
                </a:solidFill>
              </a:defRPr>
            </a:pPr>
            <a:r>
              <a:t>🎬 4-Step Live Demo Roadmap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Step 1 — Auth &amp; Lockout: </a:t>
            </a:r>
            <a:r>
              <a:rPr b="0" sz="1000">
                <a:solidFill>
                  <a:srgbClr val="241B36"/>
                </a:solidFill>
              </a:rPr>
              <a:t>Demonstrate PBKDF2 hashing; intentionally fail password 5 times to show automated account lockout (`HTTP 429`).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Step 2 — Dual-Custody Unlock: </a:t>
            </a:r>
            <a:r>
              <a:rPr b="0" sz="1000">
                <a:solidFill>
                  <a:srgbClr val="241B36"/>
                </a:solidFill>
              </a:rPr>
              <a:t>SecurityAdmin 1 and SecurityAdmin 2 enter separate passphrase shares via API to derive KEK into volatile RAM.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Step 3 — Storage &amp; Anti-IDOR: </a:t>
            </a:r>
            <a:r>
              <a:rPr b="0" sz="1000">
                <a:solidFill>
                  <a:srgbClr val="241B36"/>
                </a:solidFill>
              </a:rPr>
              <a:t>Create a secret in UI; inspect SQLite directly to prove zero plaintext, then simulate cross-tenant IDOR 403 block.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Step 4 — Tampering &amp; Chain Break: </a:t>
            </a:r>
            <a:r>
              <a:rPr b="0" sz="1000">
                <a:solidFill>
                  <a:srgbClr val="241B36"/>
                </a:solidFill>
              </a:rPr>
              <a:t>Flip 1 byte in SQLite to show GCM MAC failure; modify audit row in DB to show instant hash chain break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166360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984248"/>
            <a:ext cx="4764024" cy="3803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7954C7"/>
                </a:solidFill>
              </a:defRPr>
            </a:pPr>
            <a:r>
              <a:t>💡 Jury Defense Q&amp;A Cheatsheet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Q: Why GCM over CBC mode?: </a:t>
            </a:r>
            <a:r>
              <a:rPr b="0" sz="1000">
                <a:solidFill>
                  <a:srgbClr val="241B36"/>
                </a:solidFill>
              </a:rPr>
              <a:t>A: GCM provides authenticated encryption with 128-bit MAC tag. CBC is vulnerable to padding oracles and bit-flipping.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Q: What if the server crashes?: </a:t>
            </a:r>
            <a:r>
              <a:rPr b="0" sz="1000">
                <a:solidFill>
                  <a:srgbClr val="241B36"/>
                </a:solidFill>
              </a:rPr>
              <a:t>A: The KEK vanishes from RAM; zero plaintext is exposed. A new dual-custody ceremony restores service.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Q: How does rotation scale?: </a:t>
            </a:r>
            <a:r>
              <a:rPr b="0" sz="1000">
                <a:solidFill>
                  <a:srgbClr val="241B36"/>
                </a:solidFill>
              </a:rPr>
              <a:t>A: Envelope encryption means only 256-bit DEKs are re-wrapped. Secret payloads are never touched.</a:t>
            </a:r>
          </a:p>
          <a:p>
            <a:pPr>
              <a:spcAft>
                <a:spcPts val="700"/>
              </a:spcAft>
            </a:pPr>
            <a:r>
              <a:rPr b="1">
                <a:solidFill>
                  <a:srgbClr val="7954C7"/>
                </a:solidFill>
              </a:rPr>
              <a:t>• </a:t>
            </a:r>
            <a:r>
              <a:rPr b="1" sz="1050">
                <a:solidFill>
                  <a:srgbClr val="241B36"/>
                </a:solidFill>
              </a:rPr>
              <a:t>Q: Can an admin forge audit logs?: </a:t>
            </a:r>
            <a:r>
              <a:rPr b="0" sz="1000">
                <a:solidFill>
                  <a:srgbClr val="241B36"/>
                </a:solidFill>
              </a:rPr>
              <a:t>A: No; records are chained recursively via SHA-256 and signed via HMAC. Any alteration breaks the chain.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F647C"/>
                </a:solidFill>
              </a:defRPr>
            </a:pPr>
            <a:r>
              <a:t>Authentication and cryptography  |  Application oral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2179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954C7"/>
                </a:solidFill>
              </a:defRPr>
            </a:pPr>
            <a:r>
              <a:t>• 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